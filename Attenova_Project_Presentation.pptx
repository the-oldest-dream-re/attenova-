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panel. Introduce Attenova, a Full-Stack Smart Institutional Attendance PWA that combines 128-D biometric face recognition with classroom GPS geofencing and tamper-evident GPS photo stamping.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four main problems: Proxy attendance via WhatsApp/QR sharing, loss of teaching time during roll call, expensive biometric hardware queues, and lack of real-time notifications for parents.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3-step verification flow: 1) Biometric Face Match, 2) Haversine GPS Geofence verification, and 3) Canvas GPS Photo Stamping + automated parent alert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exact languages (HTML5, CSS3, JavaScript/Node.js), databases (JSON store.json + localStorage + Cache API), and external APIs (Nominatim, face-api.js, Google OAuth 2.0).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the 3 neural networks extract a 128-D feature vector and use Euclidean distance (threshold &lt;= 0.58) to verify identity, plus how the 48-float structural signature provides offline resilience.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Haversine formula used on both frontend and backend, why spherical distance is necessary, and how OpenStreetMap Nominatim converts coordinates into a readable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HTML5 Canvas creates a single tamper-evident JPEG containing the live camera capture, reference photo inset, face match percentage, and bottom GPS map stamp.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Student Portal (face enrollment, GPS calibration, camera check-in, class-wise/day-wise analytics) with the Faculty Portal (live session toggling, geofence creation, roster auditing).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how the Parent Portal provides real-time alerts and photo verification for guardians, while the Admin Portal controls user enrollment, face photo registration, and institutional domain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security layers (bcrypt, JWT, Google OAuth2Client verification, institutional email domain guard) and PWA features (Service Worker caching and /api/sync cloud state re-hydration).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examiners through the 4 test cases: 1) Valid check-in, 2) Proxy face mismatch rejection, 3) Outside classroom radius rejection, and 4) Unauthorized domain blocking.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by summarizing how Attenova solves proxy attendance with zero hardware cost, and mention future enhancements like Eye-Blink Liveness Detection, BLE/Wi-Fi indoor positioning, and PostgreSQL + pgvector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38912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FULL-STACK PROGRESSIVE WEB APPLICATION (PWA)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Segoe UI"/>
              </a:defRPr>
            </a:pPr>
            <a:r>
              <a:t>ATTENOVA</a:t>
            </a:r>
          </a:p>
          <a:p>
            <a:pPr>
              <a:spcBef>
                <a:spcPts val="1000"/>
              </a:spcBef>
              <a:defRPr sz="2200">
                <a:solidFill>
                  <a:srgbClr val="38BDF8"/>
                </a:solidFill>
                <a:latin typeface="Segoe UI"/>
              </a:defRPr>
            </a:pPr>
            <a:r>
              <a:t>Smart Institutional Attendance System with Biometric Face Recognition &amp; Classroom GPS Geofencing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3383280" cy="21031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096511"/>
            <a:ext cx="298094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Biometric Face ID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128-D Deep Neural Descriptor (@vladmandic/face-api)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Live Camera vs. Enrolled Reference Photo Match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Offline 48-Float Structural Fallback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383280" cy="21031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4096511"/>
            <a:ext cx="298094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GPS Geofence &amp; Stamp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HTML5 High-Accuracy GPS Lock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Haversine Distance Formula (60m Radius)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Tamper-Evident GPS Map Camera Stamp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383280" cy="21031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4096511"/>
            <a:ext cx="298094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4 Role-Based Portals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Student, Faculty, Parent &amp; Admin Views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Real-Time Parent Check-In Alerts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Google OAuth 2.0 + JWT + bcryptjs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Slide 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Why Traditional Attendance Systems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Addressing proxy attendance, manual lecture time loss, and hardware bottlenecks in colleges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21945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499262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9E0B"/>
                </a:solidFill>
                <a:latin typeface="Segoe UI"/>
              </a:defRPr>
            </a:pPr>
            <a:r>
              <a:t>1. Proxy ('Buddy') Attendance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Paper sheets, roll calls, and shared OTP/QR codes allow students to mark attendance for absent friends.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Static QR codes or links shared on WhatsApp groups enable remote check-ins from hostels or outside campus.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94960" cy="21945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64792"/>
            <a:ext cx="499262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2. Classroom Time Loss &amp; Manual Errors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Manual roll calls consume 8-12 minutes of every 60-minute lecture.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Transcribing paper registers into ERP spreadsheets causes human error and delayed reporting.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69080"/>
            <a:ext cx="5394960" cy="21945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233672"/>
            <a:ext cx="499262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3. High Cost of Biometric Hardware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Wall-mounted fingerprint/RFID scanners create long queues outside classrooms and require costly maintenance.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Hardware terminals cannot capture visual proof + GPS coordinates simultaneously.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69080"/>
            <a:ext cx="5394960" cy="21945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4233672"/>
            <a:ext cx="499262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4. Lack of Real-Time Parent Visibility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Parents usually learn about low attendance (&lt;75% defaulter lists) only at the end of the semester.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No immediate notification when a student misses a class or attempts a check-in from outside campus.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Slide 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Attenova: Dual-Verified Smart Attendance PWA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Zero dedicated hardware required — works on any student smartphone or laptop 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3118104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Step 1: Identity &amp; Face Verification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Institutional Email Guard (@mgmmumbai.ac.in / @college.edu).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Student uploads or captures a Reference Face Photo.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Live webcam/mobile camera scans face using TensorFlow.js (@vladmandic/face-api).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Extracts 128-D facial feature vector and verifies Euclidean distance &lt;= 0.58.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6002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764792"/>
            <a:ext cx="3118104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Step 2: Classroom GPS Geofencing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Locks onto hardware GPS via HTML5 Geolocation API (enableHighAccuracy: true).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Calculates exact meter distance to classroom coordinates using Haversine Formula.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Verifies student is inside the classroom radius (e.g., 60 meters).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Reverse-geocodes street/campus name via OpenStreetMap Nominatim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002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64792"/>
            <a:ext cx="3118104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Step 3: GPS Stamp &amp; Instant Alerts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HTML5 Canvas burns a GPS Map Camera Stamp onto the live photo (Reference photo inset, match %, coordinates, timestamp).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Backend re-verifies distance &amp; records attendance.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Automatically triggers real-time Parent Alerts based on parent preferences.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SYSTEM 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Slide 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Languages, Databases, Frameworks &amp; APIs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Full-stack JavaScript architecture engineered for fast mobile performance and offline resilience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22402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4992624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Frontend Technologies (Client-Side)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Languages: HTML5, CSS3 (styles.css), Vanilla JavaScript ES6+ (js/app.js).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Browser APIs: WebRTC MediaDevices (getUserMedia), HTML5 Canvas 2D API, W3C Geolocation API, FileReader API.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PWA Stack: Web App Manifest (manifest.json) + Service Worker (sw.js).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94960" cy="22402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64792"/>
            <a:ext cx="4992624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Backend Technologies (Server-Side)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Runtime &amp; Framework: Node.js (&gt;=18.0) + Express.js (server.js).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Security Packages: bcryptjs (10-round password hashing), jsonwebtoken (7-day JWT sessions), google-auth-library (OAuth2Client).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Utilities: cors, dotenv, Node.js built-in fs &amp; path modules.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69080"/>
            <a:ext cx="5394960" cy="22402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233672"/>
            <a:ext cx="4992624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Databases &amp; Storage Layers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Server Database: Persistent JSON Document Store (data/store.json managed via loadDB &amp; saveDB in data/db.js).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Client Offline DB: Browser localStorage + window.name fallback store.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Cloud State Re-Hydration: Automatic POST /api/sync endpoint merges client &amp; server state on cold starts.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69080"/>
            <a:ext cx="5394960" cy="22402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4233672"/>
            <a:ext cx="4992624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9E0B"/>
                </a:solidFill>
                <a:latin typeface="Segoe UI"/>
              </a:defRPr>
            </a:pPr>
            <a:r>
              <a:t>Location &amp; Face Recognition APIs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Face Biometrics: @vladmandic/face-api (TinyFaceDetector, FaceLandmark68Net, FaceRecognitionNet).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Reverse Geocoding API: OpenStreetMap Nominatim API (JSONv2).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Authentication API: Google Identity Services (GIS) SDK.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BIOMETRIC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Slide 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How Face Recognition Works in Attenova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Client-side deep neural network inference with deterministic structural fallback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508406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Deep Neural Pipeline (@vladmandic/face-api)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1. TinyFaceDetector: Locates face bounding box in live &lt;video&gt; stream (inputSize: 320, scoreThreshold: 0.3).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2. FaceLandmark68Net: Maps 68 facial keypoints (eyes, eyebrows, nose bridge, lips, jawline) for alignment.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3. FaceRecognitionNet: Extracts a 128-dimensional Float32 biometric descriptor vector.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4. Euclidean Distance Matching (compareStudentFaceWithReference):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Computes d(p, q) = sqrt( sum( (p_i - q_i)^2 ) ) across 128 dimensions.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Match Threshold: Distance &lt;= 0.58 (&gt;= 70% similarity score).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Runs 100% in the browser via WebGL — no raw video leaves the student's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64792"/>
            <a:ext cx="499262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Enrollment &amp; Offline Structural Fallback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Reference Face Enrollment (processReferenceFaceSource):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Crops &amp; normalizes student photo to a 260x260 JPEG portrait centered on the detected face box.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Persists 128-D faceDescriptor to backend via PUT /api/users/:id/face.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Offline Structural Fallback (computeCenterFacialSignature):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Activated automatically if CDN weights cannot load offline.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Crops center 65% onto a 48x48 canvas divided into a 4x4 grid (16 cells).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Computes 3 normalized RGB &amp; BT.601 luminance ratios per cell (48-float vector) and verifies similarity &gt;= 68%.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LOCATION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Slide 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GPS Geofencing, Haversine Formula &amp; Reverse Geocoding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Ensuring students are physically inside the classroom during live lecture sessions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499262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Haversine Great-Circle Distance Formula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Why Haversine? Accounts for Earth's spherical curvature (R = 6,371,000 meters) for meter-level accuracy.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Formula Implemented in calculateDistanceMeters(lat1, lon1, lat2, lon2):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a = sin²(Δlat/2) + cos(lat1) · cos(lat2) · sin²(Δlon/2)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c = 2 · atan2( √a, √(1−a) )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distanceMeters = round( R · c )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Dual Enforcement (Client + Server):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Verified live in student.html AND re-computed on backend in POST /api/attendance.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If distanceMeters &gt; cls.radius (e.g. 60m), status is automatically set to 'Rejected — outside class area'.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64792"/>
            <a:ext cx="499262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Hardware GPS Lock &amp; Nominatim Geocoding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HTML5 W3C Geolocation API (navigator.geolocation):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Uses enableHighAccuracy: true to request hardware GPS satellite/Wi-Fi triangulation lock.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Captures Latitude, Longitude, and accuracy radius (± meters).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OpenStreetMap Nominatim Reverse Geocoding API: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GET https://nominatim.openstreetmap.org/reverse?format=jsonv2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Converts raw (lat, lng) into building, road, suburb, and city labels.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Within 120m of campus target (19.0176° N, 73.0860° E), resolves directly to MGM College of Engineering and Technology, Kamothe, Panvel.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VISUAL PROOF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Slide 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HTML5 Canvas GPS Map Camera 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Burning biometric &amp; geolocation metadata directly into the attendance image pixels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508406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How createGpsStampedImage() Works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1. Captures live &lt;video&gt; frame onto a 640x480 HTML5 &lt;canvas&gt; context.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2. Top-Left Biometric Inset: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Renders student's enrolled Reference Photo thumbnail (62x62 px).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Draws color-coded pill: '✓ FACE MATCHED (94%)' (emerald) or '✕ FACE MISMATCH' (red).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3. Top-Right Geofence Status Pill: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Displays '✓ INSIDE CLASS (12m) · PRESENT' or '✕ OUTSIDE CLASS · REJECTED'.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4. Exports flattened JPEG DataURL (canvas.toDataURL('image/jpeg', 0.86)) stored with the attendance record.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64792"/>
            <a:ext cx="499262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Bottom GPS Map Camera Stamp Bar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Renders a dark translucent HUD bar across the bottom of the snapshot: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Left Radar Tile: Mini concentric GPS radar map icon with status dot.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Line 1 (Place Name): Reverse-geocoded campus/room address.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Line 2 (Coordinates): Exact Lat/Lng, ± accuracy, and distance from classroom in meters.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Line 3 (Session Info): Date, 24-hour timestamp, Subject name, and Classroom number.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Line 4 (Student Identity): Student Name, Roll Number, and Biometric Match verdict.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Downloadable &amp; Inspectable by Student, Faculty, Parent, and Admin in a full-screen modal.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ROLE-BASED PORTALS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Slide 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Student Portal &amp; Faculty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Streamlined workflows for classroom check-in and live lecture session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499262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Student Portal (student.html)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KPI Summary Cards: Overall Attendance %, Classes Attended, Missed/Rejected Attempts, 75% Eligibility Badge.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Tab 1 — Submit Attendance: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Upload or capture Reference Face ID photo.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Calibrate live GPS &amp; verify classroom distance.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Open camera (with front/back camera flip) &amp; submit verified check-in.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Link Parent Name &amp; Email directly.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Tab 2 — Class-Wise Attendance: Subject-wise percentage table &amp; class log filter.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Tab 3 — Day-Wise Attendance: Daily breakdown &amp; date-picker log filter.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64792"/>
            <a:ext cx="499262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Faculty Portal (faculty.html)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Live Session Control (POST /api/classes/:id/toggle-session):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Start or stop live attendance windows for specific subjects.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Classroom &amp; Geofence Management (POST /api/classes):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Create classes with Room No, Schedule, Target Latitude/Longitude, and Geofence Radius (meters).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One-click 'Use My Current GPS' button to set classroom coordinates on the spot.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Live Roster &amp; Audit Table: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View student GPS-stamped snapshots, manual status override (Present/Late/Absent), and delete duplicate logs.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ROLE-BASED PORTALS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Slide 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Parent Portal &amp; Institution Admin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Real-time guardian transparency and centralized institutional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499262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Parent Portal (parent.html &amp; preferences.html)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Two-Way Student Linking (PUT /api/parent/link-student):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Parents link to their child using Student Roll No (e.g., CS21-014) or Institutional Email.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Real-Time Attendance Alerts Engine: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Instant unread notifications for Present check-ins, Late arrivals, Outside-Classroom rejections, and Face Mismatches.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Full Attendance &amp; Snapshot Transparency: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View child's overall attendance %, subject-wise breakdown, and inspect GPS-stamped check-in photos.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Alert Preferences (PUT /api/preferences): Toggle specific alert types on/off.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64792"/>
            <a:ext cx="499262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9E0B"/>
                </a:solidFill>
                <a:latin typeface="Segoe UI"/>
              </a:defRPr>
            </a:pPr>
            <a:r>
              <a:t>Institution Admin Portal (admin.html)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User Directory &amp; Biometric Enrollment (POST /api/users):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Add/delete Students, Faculty, Parents, and Admins.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Upload student reference face photos &amp; link parent emails during registration.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Institutional Security Configuration: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Configure Allowed Email Domains (@mgmmumbai.ac.in, @college.edu) via PUT /api/config/allowed-domains.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Configure Google OAuth 2.0 Client ID via PUT /api/config/google-client-id.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Master Attendance &amp; Class Audit: Institution-wide analytics across all departments.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SECURITY &amp; CLOUD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Slide 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Authentication, Domain Guard, PWA &amp; State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Enterprise-grade authentication combined with offline-first Progressive Web App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499262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Authentication &amp; Access Control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Password Security: Hashed with bcryptjs (10 salt rounds); sanitizeUser() strips passwordHash from all API responses.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Stateless JWT Sessions: Signed with JWT_SECRET (7-day expiry) and enforced via authenticateToken middleware.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Real Google Sign-In (POST /api/auth/google): Verifies Google ID tokens on backend via google-auth-library OAuth2Client.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Institutional Domain Guard (isAllowedInstitutionalEmail): Blocks personal Gmail accounts unless pre-enrolled or linking as a Parent with a valid Student Roll 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64792"/>
            <a:ext cx="499262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Installable PWA &amp; Cloud Re-Hydration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Progressive Web App (manifest.json + sw.js):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Installable on Android, iOS, Windows, and macOS as a standalone app.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Service Worker caches static portals &amp; assets using Network-First with Cache-Fallback.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Cross-Browser Storage Wrapper: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Combines localStorage with window.name fallback so sessions work even on file:// protocol.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Cloud Cold-Start Re-Hydration (POST /api/sync):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Automatically restores users, face descriptors, classes, and attendance logs when Render free-tier wakes 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Slide 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End-to-End Verification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How Attenova responds to valid check-ins versus proxy and out-of-bounds attempts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21945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499262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Scenario 1: Valid Classroom Check-In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Condition: Face Euclidean distance &lt;= 0.58 (e.g., 94% match) AND GPS distance &lt;= 60m (e.g., 12m from Room B-204).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Result: Status marked 'Present' (Green Badge). Parent receives 'Checked in to class' notification with GPS photo.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94960" cy="21945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64792"/>
            <a:ext cx="499262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9E0B"/>
                </a:solidFill>
                <a:latin typeface="Segoe UI"/>
              </a:defRPr>
            </a:pPr>
            <a:r>
              <a:t>Scenario 2: Proxy Attempt (Wrong Face)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Condition: Friend tries to scan their face on student's account (Euclidean distance &gt; 0.58 / similarity &lt; 70%).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Result: Status marked 'Rejected — Face not matched'. Red alert sent to Parent &amp; logged for Faculty.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69080"/>
            <a:ext cx="5394960" cy="21945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233672"/>
            <a:ext cx="499262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Scenario 3: Remote Check-In (Outside Geofence)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Condition: Student scans own face from hostel/home (e.g., 310m away &gt; 60m classroom radius).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Result: Status marked 'Rejected — outside class area'. Snapshot stamped with red OUTSIDE CLASS warning.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69080"/>
            <a:ext cx="5394960" cy="21945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4233672"/>
            <a:ext cx="499262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Scenario 4: Unauthorized Non-College Email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Condition: External user attempts login with personal @gmail.com without pre-enrollment.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Result: Blocked with HTTP 403 Forbidden by Institutional Domain Guard.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Slide 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Summary of impact and next-generation enhancements for large-scale university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499262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Conclusion &amp; Key Achievements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Eliminates Proxy Attendance: Combines 128-D biometric face matching with Haversine GPS geofencing.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Zero Hardware Cost: Works on existing smartphones and laptops as an installable PWA.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Tamper-Evident Audit Trail: Every check-in produces a downloadable GPS Map Camera Stamped JPEG.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Complete Ecosystem: Connects Students, Faculty, Parents, and Institution Admins in real time.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Cloud-Ready: Pre-configured for Render.com deployment with automatic client-server state synchronization.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64792"/>
            <a:ext cx="4992624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Future Scope &amp; Enhancements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1. Active Liveness Detection (Anti-Spoofing):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Use FaceLandmark68Net Eye Aspect Ratio (EAR) to require live eye-blinking &amp; head-turn challenges.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2. Multi-Signal Indoor Positioning: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Combine GPS with Classroom Wi-Fi BSSID &amp; Bluetooth Low Energy (BLE) beacons to prevent mock-GPS apps.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3. Enterprise Database Scaling: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Migrate loadDB/saveDB to PostgreSQL + pgvector for 10,000+ student vector searches &amp; AWS S3 photo storage.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4. Automated ERP &amp; SMS/WhatsApp Export:</a:t>
            </a:r>
          </a:p>
          <a:p>
            <a:pPr>
              <a:spcAft>
                <a:spcPts val="600"/>
              </a:spcAft>
              <a:defRPr sz="1350">
                <a:solidFill>
                  <a:srgbClr val="F8FAFC"/>
                </a:solidFill>
                <a:latin typeface="Segoe UI"/>
              </a:defRPr>
            </a:pPr>
            <a:r>
              <a:t>•     • Direct integration with university ERP and Twilio/WhatsApp parent notifications.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